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69" r:id="rId6"/>
    <p:sldId id="261" r:id="rId7"/>
    <p:sldId id="267" r:id="rId8"/>
    <p:sldId id="262" r:id="rId9"/>
    <p:sldId id="270" r:id="rId10"/>
    <p:sldId id="268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3239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2024-07-17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.png"  /><Relationship Id="rId11" Type="http://schemas.openxmlformats.org/officeDocument/2006/relationships/image" Target="../media/image3.png"  /><Relationship Id="rId12" Type="http://schemas.openxmlformats.org/officeDocument/2006/relationships/image" Target="../media/image4.png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3.png"  /><Relationship Id="rId8" Type="http://schemas.openxmlformats.org/officeDocument/2006/relationships/image" Target="../media/image4.png"  /><Relationship Id="rId9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2.png"  /><Relationship Id="rId4" Type="http://schemas.openxmlformats.org/officeDocument/2006/relationships/video" Target="file:///C:\Users\kimay\Videos\Bandicam\bandicam%202024-07-17%2010-43-43-261.mp4" TargetMode="External" /><Relationship Id="rId5" Type="http://schemas.microsoft.com/office/2007/relationships/media" Target="file:///C:\Users\kimay\Videos\Bandicam\bandicam%202024-07-17%2010-43-43-261.mp4" TargetMode="External" /><Relationship Id="rId6" Type="http://schemas.openxmlformats.org/officeDocument/2006/relationships/image" Target="../media/image12.png"  /><Relationship Id="rId7" Type="http://schemas.openxmlformats.org/officeDocument/2006/relationships/video" Target="file:///C:\Users\kimay\Videos\Bandicam\bandicam%202024-07-17%2010-46-12-799.mp4" TargetMode="External" /><Relationship Id="rId8" Type="http://schemas.microsoft.com/office/2007/relationships/media" Target="file:///C:\Users\kimay\Videos\Bandicam\bandicam%202024-07-17%2010-46-12-799.mp4" TargetMode="External" /><Relationship Id="rId9" Type="http://schemas.openxmlformats.org/officeDocument/2006/relationships/image" Target="../media/image1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video" Target="file:///C:\Users\kimay\Videos\Bandicam\bandicam%202024-07-17%2010-47-05-941.mp4" TargetMode="External" /><Relationship Id="rId4" Type="http://schemas.microsoft.com/office/2007/relationships/media" Target="file:///C:\Users\kimay\Videos\Bandicam\bandicam%202024-07-17%2010-47-05-941.mp4" TargetMode="External" /><Relationship Id="rId5" Type="http://schemas.openxmlformats.org/officeDocument/2006/relationships/image" Target="../media/image14.png"  /><Relationship Id="rId6" Type="http://schemas.openxmlformats.org/officeDocument/2006/relationships/video" Target="file:///C:\Users\kimay\Videos\Bandicam\bandicam%202024-07-17%2010-48-32-132.mp4" TargetMode="External" /><Relationship Id="rId7" Type="http://schemas.microsoft.com/office/2007/relationships/media" Target="file:///C:\Users\kimay\Videos\Bandicam\bandicam%202024-07-17%2010-48-32-132.mp4" TargetMode="External" /><Relationship Id="rId8" Type="http://schemas.openxmlformats.org/officeDocument/2006/relationships/image" Target="../media/image1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4025900"/>
            <a:ext cx="12534900" cy="6261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95300" y="4191000"/>
            <a:ext cx="13906501" cy="1905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lnSpc>
                <a:spcPct val="95449"/>
              </a:lnSpc>
              <a:defRPr/>
            </a:pPr>
            <a:r>
              <a:rPr lang="ko-KR" sz="5900" b="0" i="0" u="none" strike="noStrike">
                <a:solidFill>
                  <a:srgbClr val="323232"/>
                </a:solidFill>
                <a:latin typeface="한컴산뜻돋움"/>
                <a:ea typeface="한컴산뜻돋움"/>
              </a:rPr>
              <a:t>개인</a:t>
            </a:r>
            <a:r>
              <a:rPr lang="en-US" sz="5900" b="0" i="0" u="none" strike="noStrike">
                <a:solidFill>
                  <a:srgbClr val="323232"/>
                </a:solidFill>
                <a:latin typeface="한컴산뜻돋움"/>
                <a:ea typeface="한컴산뜻돋움"/>
              </a:rPr>
              <a:t> </a:t>
            </a:r>
            <a:r>
              <a:rPr lang="ko-KR" sz="5900" b="0" i="0" u="none" strike="noStrike">
                <a:solidFill>
                  <a:srgbClr val="323232"/>
                </a:solidFill>
                <a:latin typeface="한컴산뜻돋움"/>
                <a:ea typeface="한컴산뜻돋움"/>
              </a:rPr>
              <a:t>성적</a:t>
            </a:r>
            <a:r>
              <a:rPr lang="en-US" sz="5900" b="0" i="0" u="none" strike="noStrike">
                <a:solidFill>
                  <a:srgbClr val="323232"/>
                </a:solidFill>
                <a:latin typeface="한컴산뜻돋움"/>
                <a:ea typeface="한컴산뜻돋움"/>
              </a:rPr>
              <a:t> </a:t>
            </a:r>
            <a:r>
              <a:rPr lang="ko-KR" sz="5900" b="0" i="0" u="none" strike="noStrike">
                <a:solidFill>
                  <a:srgbClr val="323232"/>
                </a:solidFill>
                <a:latin typeface="한컴산뜻돋움"/>
                <a:ea typeface="한컴산뜻돋움"/>
              </a:rPr>
              <a:t>관리</a:t>
            </a:r>
            <a:r>
              <a:rPr lang="en-US" sz="5900" b="0" i="0" u="none" strike="noStrike">
                <a:solidFill>
                  <a:srgbClr val="323232"/>
                </a:solidFill>
                <a:latin typeface="한컴산뜻돋움"/>
                <a:ea typeface="한컴산뜻돋움"/>
              </a:rPr>
              <a:t> </a:t>
            </a:r>
            <a:r>
              <a:rPr lang="ko-KR" sz="5900" b="0" i="0" u="none" strike="noStrike">
                <a:solidFill>
                  <a:srgbClr val="323232"/>
                </a:solidFill>
                <a:latin typeface="한컴산뜻돋움"/>
                <a:ea typeface="한컴산뜻돋움"/>
              </a:rPr>
              <a:t>프로그램</a:t>
            </a:r>
            <a:r>
              <a:rPr lang="ko-KR" altLang="en-US" sz="5900" b="0" i="0" u="none" strike="noStrike">
                <a:solidFill>
                  <a:srgbClr val="323232"/>
                </a:solidFill>
                <a:latin typeface="한컴산뜻돋움"/>
                <a:ea typeface="한컴산뜻돋움"/>
              </a:rPr>
              <a:t> 최종발표</a:t>
            </a:r>
            <a:endParaRPr lang="ko-KR" altLang="en-US" sz="5900" b="0" i="0" u="none" strike="noStrike">
              <a:solidFill>
                <a:srgbClr val="323232"/>
              </a:solidFill>
              <a:latin typeface="한컴산뜻돋움"/>
              <a:ea typeface="한컴산뜻돋움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19200" y="7061200"/>
            <a:ext cx="6337300" cy="1028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2200" b="0" i="0" u="none" strike="noStrike">
                <a:solidFill>
                  <a:srgbClr val="323232"/>
                </a:solidFill>
                <a:latin typeface="돋움"/>
                <a:ea typeface="돋움"/>
              </a:rPr>
              <a:t>이름</a:t>
            </a:r>
            <a:r>
              <a:rPr lang="en-US" sz="2200" b="0" i="0" u="none" strike="noStrike">
                <a:solidFill>
                  <a:srgbClr val="323232"/>
                </a:solidFill>
                <a:latin typeface="돋움"/>
                <a:ea typeface="돋움"/>
              </a:rPr>
              <a:t> : </a:t>
            </a:r>
            <a:r>
              <a:rPr lang="ko-KR" sz="2200" b="0" i="0" u="none" strike="noStrike">
                <a:solidFill>
                  <a:srgbClr val="323232"/>
                </a:solidFill>
                <a:latin typeface="돋움"/>
                <a:ea typeface="돋움"/>
              </a:rPr>
              <a:t>김아영</a:t>
            </a:r>
            <a:r>
              <a:rPr lang="en-US" sz="2200" b="0" i="0" u="none" strike="noStrike">
                <a:solidFill>
                  <a:srgbClr val="323232"/>
                </a:solidFill>
                <a:latin typeface="돋움"/>
                <a:ea typeface="돋움"/>
              </a:rPr>
              <a:t>(202311394)</a:t>
            </a:r>
            <a:endParaRPr lang="en-US" sz="2200" b="0" i="0" u="none" strike="noStrike">
              <a:solidFill>
                <a:srgbClr val="323232"/>
              </a:solidFill>
              <a:latin typeface="돋움"/>
              <a:ea typeface="돋움"/>
            </a:endParaRPr>
          </a:p>
          <a:p>
            <a:pPr lvl="0" algn="l">
              <a:lnSpc>
                <a:spcPct val="95449"/>
              </a:lnSpc>
              <a:defRPr/>
            </a:pPr>
            <a:r>
              <a:rPr lang="ko-KR" sz="2200" b="0" i="0" u="none" strike="noStrike">
                <a:solidFill>
                  <a:srgbClr val="323232"/>
                </a:solidFill>
                <a:latin typeface="돋움"/>
                <a:ea typeface="돋움"/>
              </a:rPr>
              <a:t>날짜</a:t>
            </a:r>
            <a:r>
              <a:rPr lang="en-US" sz="2200" b="0" i="0" u="none" strike="noStrike">
                <a:solidFill>
                  <a:srgbClr val="323232"/>
                </a:solidFill>
                <a:latin typeface="돋움"/>
                <a:ea typeface="돋움"/>
              </a:rPr>
              <a:t> : 2024.07.</a:t>
            </a:r>
            <a:r>
              <a:rPr lang="en-US" altLang="ko-KR" sz="2200" b="0" i="0" u="none" strike="noStrike">
                <a:solidFill>
                  <a:srgbClr val="323232"/>
                </a:solidFill>
                <a:latin typeface="돋움"/>
                <a:ea typeface="돋움"/>
              </a:rPr>
              <a:t>17</a:t>
            </a:r>
            <a:endParaRPr lang="en-US" altLang="ko-KR" sz="2200" b="0" i="0" u="none" strike="noStrike">
              <a:solidFill>
                <a:srgbClr val="323232"/>
              </a:solidFill>
              <a:latin typeface="돋움"/>
              <a:ea typeface="돋움"/>
            </a:endParaRPr>
          </a:p>
          <a:p>
            <a:pPr lvl="0" algn="l">
              <a:lnSpc>
                <a:spcPct val="95449"/>
              </a:lnSpc>
              <a:defRPr/>
            </a:pPr>
            <a:r>
              <a:rPr lang="ko-KR" sz="2200" b="0" i="0" u="none" strike="noStrike">
                <a:solidFill>
                  <a:srgbClr val="323232"/>
                </a:solidFill>
                <a:latin typeface="돋움"/>
                <a:ea typeface="돋움"/>
              </a:rPr>
              <a:t>학과</a:t>
            </a:r>
            <a:r>
              <a:rPr lang="en-US" sz="2200" b="0" i="0" u="none" strike="noStrike">
                <a:solidFill>
                  <a:srgbClr val="323232"/>
                </a:solidFill>
                <a:latin typeface="돋움"/>
                <a:ea typeface="돋움"/>
              </a:rPr>
              <a:t> : </a:t>
            </a:r>
            <a:r>
              <a:rPr lang="ko-KR" sz="2200" b="0" i="0" u="none" strike="noStrike">
                <a:solidFill>
                  <a:srgbClr val="323232"/>
                </a:solidFill>
                <a:latin typeface="돋움"/>
                <a:ea typeface="돋움"/>
              </a:rPr>
              <a:t>컴퓨터공학과</a:t>
            </a:r>
            <a:endParaRPr lang="ko-KR" sz="22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0732606">
            <a:off x="9488342" y="-21738"/>
            <a:ext cx="8757624" cy="43743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10790167">
            <a:off x="8721" y="17917"/>
            <a:ext cx="12537768" cy="611635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346200" y="2717800"/>
            <a:ext cx="1854200" cy="1168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5449"/>
              </a:lnSpc>
              <a:defRPr/>
            </a:pP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목차</a:t>
            </a:r>
            <a:endParaRPr lang="ko-KR" sz="65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431800" y="5816600"/>
            <a:ext cx="11176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00100" y="5219700"/>
            <a:ext cx="381000" cy="381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63600" y="5219700"/>
            <a:ext cx="254000" cy="342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5449"/>
              </a:lnSpc>
              <a:defRPr/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1</a:t>
            </a:r>
            <a:endParaRPr lang="en-US" sz="2000" b="0" i="0" u="none" strike="noStrike">
              <a:solidFill>
                <a:srgbClr val="fafafa"/>
              </a:solidFill>
              <a:latin typeface="Pretendar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35100" y="5130800"/>
            <a:ext cx="50165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필요성</a:t>
            </a:r>
            <a:r>
              <a:rPr lang="en-US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 </a:t>
            </a:r>
            <a:r>
              <a:rPr lang="ko-KR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및</a:t>
            </a:r>
            <a:r>
              <a:rPr lang="en-US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 </a:t>
            </a:r>
            <a:r>
              <a:rPr lang="ko-KR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목적</a:t>
            </a:r>
            <a:endParaRPr lang="ko-KR" sz="32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431800" y="7543800"/>
            <a:ext cx="11176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00100" y="6946900"/>
            <a:ext cx="381000" cy="381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863600" y="6959600"/>
            <a:ext cx="254000" cy="342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5449"/>
              </a:lnSpc>
              <a:defRPr/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2</a:t>
            </a:r>
            <a:endParaRPr lang="en-US" sz="2000" b="0" i="0" u="none" strike="noStrike">
              <a:solidFill>
                <a:srgbClr val="fafafa"/>
              </a:solidFill>
              <a:latin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35100" y="6858000"/>
            <a:ext cx="50165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altLang="en-US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개발 내용 및 주요 기능</a:t>
            </a:r>
            <a:endParaRPr lang="ko-KR" altLang="en-US" sz="32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9" name="Group 19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5956300" y="5753100"/>
            <a:ext cx="1117600" cy="38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6324600" y="5156200"/>
            <a:ext cx="381000" cy="3810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6388100" y="5168900"/>
            <a:ext cx="254000" cy="342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5449"/>
              </a:lnSpc>
              <a:defRPr/>
            </a:pPr>
            <a:r>
              <a:rPr lang="en-US" altLang="ko-KR" sz="2000" b="0" i="0" u="none" strike="noStrike">
                <a:solidFill>
                  <a:srgbClr val="fafafa"/>
                </a:solidFill>
                <a:latin typeface="돋움"/>
                <a:ea typeface="돋움"/>
              </a:rPr>
              <a:t>3</a:t>
            </a:r>
            <a:endParaRPr lang="en-US" altLang="ko-KR" sz="2000" b="0" i="0" u="none" strike="noStrike">
              <a:solidFill>
                <a:srgbClr val="fafafa"/>
              </a:solidFill>
              <a:latin typeface="돋움"/>
              <a:ea typeface="돋움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959600" y="5067300"/>
            <a:ext cx="50165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개발환경</a:t>
            </a:r>
            <a:endParaRPr lang="ko-KR" sz="32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5956300" y="7543800"/>
            <a:ext cx="1117600" cy="38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6324600" y="6946900"/>
            <a:ext cx="381000" cy="3810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6388100" y="6946900"/>
            <a:ext cx="254000" cy="342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5449"/>
              </a:lnSpc>
              <a:defRPr/>
            </a:pPr>
            <a:r>
              <a:rPr lang="en-US" altLang="ko-KR" sz="2000" b="0" i="0" u="none" strike="noStrike">
                <a:solidFill>
                  <a:srgbClr val="fafafa"/>
                </a:solidFill>
                <a:latin typeface="돋움"/>
                <a:ea typeface="돋움"/>
              </a:rPr>
              <a:t>4</a:t>
            </a:r>
            <a:endParaRPr lang="en-US" altLang="ko-KR" sz="2000" b="0" i="0" u="none" strike="noStrike">
              <a:solidFill>
                <a:srgbClr val="fafafa"/>
              </a:solidFill>
              <a:latin typeface="돋움"/>
              <a:ea typeface="돋움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959600" y="6858000"/>
            <a:ext cx="50165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파일구조</a:t>
            </a:r>
            <a:r>
              <a:rPr lang="en-US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(</a:t>
            </a:r>
            <a:r>
              <a:rPr lang="ko-KR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텍스트</a:t>
            </a:r>
            <a:r>
              <a:rPr lang="en-US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 </a:t>
            </a:r>
            <a:r>
              <a:rPr lang="ko-KR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파일</a:t>
            </a:r>
            <a:r>
              <a:rPr lang="en-US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)</a:t>
            </a:r>
            <a:endParaRPr lang="ko-KR" sz="32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  <p:grpSp>
        <p:nvGrpSpPr>
          <p:cNvPr id="29" name="Group 29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 rot="5400000">
            <a:off x="11099800" y="5600700"/>
            <a:ext cx="1117600" cy="381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1468100" y="5003800"/>
            <a:ext cx="381000" cy="3810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1531600" y="5016500"/>
            <a:ext cx="254000" cy="342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5449"/>
              </a:lnSpc>
              <a:defRPr/>
            </a:pPr>
            <a:r>
              <a:rPr lang="en-US" altLang="ko-KR" sz="2000" b="0" i="0" u="none" strike="noStrike">
                <a:solidFill>
                  <a:srgbClr val="fafafa"/>
                </a:solidFill>
                <a:latin typeface="돋움"/>
                <a:ea typeface="돋움"/>
              </a:rPr>
              <a:t>5</a:t>
            </a:r>
            <a:endParaRPr lang="en-US" altLang="ko-KR" sz="2000" b="0" i="0" u="none" strike="noStrike">
              <a:solidFill>
                <a:srgbClr val="fafafa"/>
              </a:solidFill>
              <a:latin typeface="돋움"/>
              <a:ea typeface="돋움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103100" y="4914900"/>
            <a:ext cx="50165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5449"/>
              </a:lnSpc>
              <a:defRPr/>
            </a:pPr>
            <a:r>
              <a:rPr lang="en-US" altLang="ko-KR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UI</a:t>
            </a:r>
            <a:r>
              <a:rPr lang="ko-KR" altLang="en-US" sz="3200" b="0" i="0" u="none" strike="noStrike">
                <a:solidFill>
                  <a:srgbClr val="323232"/>
                </a:solidFill>
                <a:latin typeface="돋움"/>
                <a:ea typeface="돋움"/>
              </a:rPr>
              <a:t> 구현 영상</a:t>
            </a:r>
            <a:endParaRPr lang="ko-KR" altLang="en-US" sz="32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-2614898" y="2649251"/>
            <a:ext cx="10258998" cy="5029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75000" y="3848100"/>
            <a:ext cx="3479800" cy="2730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394700" y="4724400"/>
            <a:ext cx="1993900" cy="133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925300" y="3683000"/>
            <a:ext cx="3835400" cy="3378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20700" y="279400"/>
            <a:ext cx="65659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필요성</a:t>
            </a:r>
            <a:r>
              <a:rPr lang="en-US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 </a:t>
            </a: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및</a:t>
            </a:r>
            <a:r>
              <a:rPr lang="en-US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 </a:t>
            </a: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목적</a:t>
            </a:r>
            <a:endParaRPr lang="ko-KR" sz="65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24000" y="7581900"/>
            <a:ext cx="7391400" cy="1130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5449"/>
              </a:lnSpc>
              <a:defRPr/>
            </a:pPr>
            <a:r>
              <a:rPr lang="ko-KR" altLang="en-US" sz="3500" b="0" i="0" u="none" strike="noStrike">
                <a:solidFill>
                  <a:srgbClr val="323232"/>
                </a:solidFill>
                <a:latin typeface="돋움"/>
                <a:ea typeface="돋움"/>
              </a:rPr>
              <a:t>졸업때까지 성적을 관리를 못해 </a:t>
            </a:r>
            <a:endParaRPr lang="ko-KR" altLang="en-US" sz="3500" b="0" i="0" u="none" strike="noStrike">
              <a:solidFill>
                <a:srgbClr val="323232"/>
              </a:solidFill>
              <a:latin typeface="돋움"/>
              <a:ea typeface="돋움"/>
            </a:endParaRPr>
          </a:p>
          <a:p>
            <a:pPr lvl="0" algn="ctr">
              <a:lnSpc>
                <a:spcPct val="95449"/>
              </a:lnSpc>
              <a:defRPr/>
            </a:pPr>
            <a:r>
              <a:rPr lang="ko-KR" altLang="en-US" sz="3500" b="0" i="0" u="none" strike="noStrike">
                <a:solidFill>
                  <a:srgbClr val="323232"/>
                </a:solidFill>
                <a:latin typeface="돋움"/>
                <a:ea typeface="돋움"/>
              </a:rPr>
              <a:t>졸업을 못하는 학생들을 위함</a:t>
            </a:r>
            <a:endParaRPr lang="ko-KR" altLang="en-US" sz="35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677400" y="7569200"/>
            <a:ext cx="8445500" cy="1130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5449"/>
              </a:lnSpc>
              <a:defRPr/>
            </a:pPr>
            <a:r>
              <a:rPr lang="ko-KR" altLang="en-US" sz="3500" b="0" i="0" u="none" strike="noStrike">
                <a:solidFill>
                  <a:srgbClr val="323232"/>
                </a:solidFill>
                <a:latin typeface="돋움"/>
                <a:ea typeface="돋움"/>
              </a:rPr>
              <a:t>성적을 관리하여 학점 관리를 할 </a:t>
            </a:r>
            <a:endParaRPr lang="ko-KR" altLang="en-US" sz="3500" b="0" i="0" u="none" strike="noStrike">
              <a:solidFill>
                <a:srgbClr val="323232"/>
              </a:solidFill>
              <a:latin typeface="돋움"/>
              <a:ea typeface="돋움"/>
            </a:endParaRPr>
          </a:p>
          <a:p>
            <a:pPr lvl="0" algn="ctr">
              <a:lnSpc>
                <a:spcPct val="95449"/>
              </a:lnSpc>
              <a:defRPr/>
            </a:pPr>
            <a:r>
              <a:rPr lang="ko-KR" altLang="en-US" sz="3500" b="0" i="0" u="none" strike="noStrike">
                <a:solidFill>
                  <a:srgbClr val="323232"/>
                </a:solidFill>
                <a:latin typeface="돋움"/>
                <a:ea typeface="돋움"/>
              </a:rPr>
              <a:t>수 있는 프로그램을 개발하기로 함</a:t>
            </a:r>
            <a:endParaRPr lang="ko-KR" altLang="en-US" sz="35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-2443344" y="2443344"/>
            <a:ext cx="10366740" cy="5480051"/>
          </a:xfrm>
          <a:prstGeom prst="rect">
            <a:avLst/>
          </a:prstGeom>
        </p:spPr>
      </p:pic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752600" y="3813175"/>
          <a:ext cx="13792200" cy="4454525"/>
        </p:xfrm>
        <a:graphic>
          <a:graphicData uri="http://schemas.openxmlformats.org/drawingml/2006/table">
            <a:tbl>
              <a:tblPr firstRow="1" bandRow="1"/>
              <a:tblGrid>
                <a:gridCol w="1828800"/>
                <a:gridCol w="10396723"/>
                <a:gridCol w="1566677"/>
              </a:tblGrid>
              <a:tr h="771525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sz="2600" b="0" i="0" u="none" strike="noStrike">
                          <a:solidFill>
                            <a:srgbClr val="604444"/>
                          </a:solidFill>
                          <a:latin typeface="돋움"/>
                          <a:ea typeface="돋움"/>
                        </a:rPr>
                        <a:t>주요기능</a:t>
                      </a:r>
                      <a:endParaRPr lang="en-US" sz="1100"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>
                        <a:alpha val="0"/>
                      </a:schemeClr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sz="2600" b="0" i="0" u="none" strike="noStrike">
                          <a:solidFill>
                            <a:srgbClr val="604444"/>
                          </a:solidFill>
                          <a:latin typeface="돋움"/>
                          <a:ea typeface="돋움"/>
                        </a:rPr>
                        <a:t>내용</a:t>
                      </a:r>
                      <a:endParaRPr lang="en-US" sz="1100"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>
                        <a:alpha val="0"/>
                      </a:schemeClr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altLang="en-US" sz="2600">
                          <a:latin typeface="돋움"/>
                          <a:ea typeface="돋움"/>
                        </a:rPr>
                        <a:t>구현여부</a:t>
                      </a:r>
                      <a:endParaRPr lang="ko-KR" altLang="en-US" sz="2600"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>
                        <a:alpha val="0"/>
                      </a:schemeClr>
                    </a:solidFill>
                  </a:tcPr>
                </a:tc>
              </a:tr>
              <a:tr h="7366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성적</a:t>
                      </a:r>
                      <a:r>
                        <a:rPr 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</a:t>
                      </a:r>
                      <a:r>
                        <a:rPr 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추가</a:t>
                      </a:r>
                      <a:endParaRPr lang="en-US" sz="1100"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7e2e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자신이 추가하고 싶은 성적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(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교과목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년도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/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학기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이수 구분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등급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학점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)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을 저장하는 기능</a:t>
                      </a:r>
                      <a:endParaRPr lang="ko-KR" altLang="en-US" sz="2300" b="0" i="0" u="none" strike="noStrike">
                        <a:solidFill>
                          <a:srgbClr val="715858"/>
                        </a:solidFill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7e2e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altLang="en-US" sz="26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○</a:t>
                      </a:r>
                      <a:endParaRPr lang="ko-KR" altLang="en-US" sz="2600" b="0" i="0" u="none" strike="noStrike">
                        <a:solidFill>
                          <a:srgbClr val="715858"/>
                        </a:solidFill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7e2e2"/>
                    </a:solidFill>
                  </a:tcPr>
                </a:tc>
              </a:tr>
              <a:tr h="7366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성정</a:t>
                      </a:r>
                      <a:r>
                        <a:rPr 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</a:t>
                      </a:r>
                      <a:r>
                        <a:rPr 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수정</a:t>
                      </a:r>
                      <a:endParaRPr lang="en-US" sz="1100"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자신이 추가한 성적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(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교과목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년도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/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학기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이수 구분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등급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학점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)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을 수정하여 저장하는 기능</a:t>
                      </a:r>
                      <a:endParaRPr lang="ko-KR" altLang="en-US" sz="2300" b="0" i="0" u="none" strike="noStrike">
                        <a:solidFill>
                          <a:srgbClr val="715858"/>
                        </a:solidFill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altLang="en-US" sz="26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○</a:t>
                      </a:r>
                      <a:endParaRPr lang="ko-KR" altLang="en-US" sz="2600" b="0" i="0" u="none" strike="noStrike">
                        <a:solidFill>
                          <a:srgbClr val="715858"/>
                        </a:solidFill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성적</a:t>
                      </a:r>
                      <a:r>
                        <a:rPr 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</a:t>
                      </a:r>
                      <a:r>
                        <a:rPr 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삭제</a:t>
                      </a:r>
                      <a:endParaRPr lang="en-US" sz="1100"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7e2e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자신이 삭제하고 싶은 성적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(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교과목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년도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/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학기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이수 구분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등급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학점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)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을 삭제할 수 있는 기능</a:t>
                      </a:r>
                      <a:endParaRPr lang="ko-KR" altLang="en-US" sz="2300" b="0" i="0" u="none" strike="noStrike">
                        <a:solidFill>
                          <a:srgbClr val="715858"/>
                        </a:solidFill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7e2e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altLang="en-US" sz="26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○</a:t>
                      </a:r>
                      <a:endParaRPr lang="ko-KR" altLang="en-US" sz="2600" b="0" i="0" u="none" strike="noStrike">
                        <a:solidFill>
                          <a:srgbClr val="715858"/>
                        </a:solidFill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7e2e2"/>
                    </a:solidFill>
                  </a:tcPr>
                </a:tc>
              </a:tr>
              <a:tr h="7366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성적</a:t>
                      </a:r>
                      <a:r>
                        <a:rPr 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</a:t>
                      </a:r>
                      <a:r>
                        <a:rPr 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검색</a:t>
                      </a:r>
                      <a:endParaRPr lang="en-US" sz="1100"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7e2e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입력한 키워드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(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교과목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년도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/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학기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이수 구분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등급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,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학점</a:t>
                      </a:r>
                      <a:r>
                        <a:rPr lang="en-US" alt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)</a:t>
                      </a: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을 검색하는 기능</a:t>
                      </a:r>
                      <a:endParaRPr lang="ko-KR" altLang="en-US" sz="2300" b="0" i="0" u="none" strike="noStrike">
                        <a:solidFill>
                          <a:srgbClr val="715858"/>
                        </a:solidFill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7e2e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altLang="en-US" sz="26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○</a:t>
                      </a:r>
                      <a:endParaRPr lang="ko-KR" altLang="en-US" sz="2600" b="0" i="0" u="none" strike="noStrike">
                        <a:solidFill>
                          <a:srgbClr val="715858"/>
                        </a:solidFill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7e2e2"/>
                    </a:solidFill>
                  </a:tcPr>
                </a:tc>
              </a:tr>
              <a:tr h="7366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성적</a:t>
                      </a:r>
                      <a:r>
                        <a:rPr 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 </a:t>
                      </a:r>
                      <a:r>
                        <a:rPr lang="ko-KR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열람</a:t>
                      </a:r>
                      <a:endParaRPr lang="en-US" sz="1100"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7e2e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altLang="en-US" sz="23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저장한 텍스트 파일을 저장하고 여는 기능</a:t>
                      </a:r>
                      <a:endParaRPr lang="ko-KR" altLang="en-US" sz="2300" b="0" i="0" u="none" strike="noStrike">
                        <a:solidFill>
                          <a:srgbClr val="715858"/>
                        </a:solidFill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7e2e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92960"/>
                        </a:lnSpc>
                        <a:defRPr/>
                      </a:pPr>
                      <a:r>
                        <a:rPr lang="ko-KR" altLang="en-US" sz="2600" b="0" i="0" u="none" strike="noStrike">
                          <a:solidFill>
                            <a:srgbClr val="715858"/>
                          </a:solidFill>
                          <a:latin typeface="돋움"/>
                          <a:ea typeface="돋움"/>
                        </a:rPr>
                        <a:t>○</a:t>
                      </a:r>
                      <a:endParaRPr lang="ko-KR" altLang="en-US" sz="2600" b="0" i="0" u="none" strike="noStrike">
                        <a:solidFill>
                          <a:srgbClr val="715858"/>
                        </a:solidFill>
                        <a:latin typeface="돋움"/>
                        <a:ea typeface="돋움"/>
                      </a:endParaRPr>
                    </a:p>
                  </a:txBody>
                  <a:tcPr marL="19050" marR="19050" marT="19050" marB="19050" anchor="ctr">
                    <a:lnL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434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7e2e2"/>
                    </a:solidFill>
                  </a:tcPr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533400" y="342900"/>
            <a:ext cx="90678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개발</a:t>
            </a:r>
            <a:r>
              <a:rPr lang="en-US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 </a:t>
            </a: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내용</a:t>
            </a:r>
            <a:r>
              <a:rPr lang="en-US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 </a:t>
            </a: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및</a:t>
            </a:r>
            <a:r>
              <a:rPr lang="en-US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 </a:t>
            </a: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주요</a:t>
            </a:r>
            <a:r>
              <a:rPr lang="en-US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 </a:t>
            </a: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기능</a:t>
            </a:r>
            <a:endParaRPr lang="ko-KR" sz="65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-2614898" y="2649251"/>
            <a:ext cx="10258998" cy="5029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79700" y="4025900"/>
            <a:ext cx="5562600" cy="2781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03000" y="4025900"/>
            <a:ext cx="3683000" cy="2768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44500" y="508000"/>
            <a:ext cx="79629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개발환경</a:t>
            </a:r>
            <a:endParaRPr lang="ko-KR" sz="65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924300" y="7150100"/>
            <a:ext cx="33020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5449"/>
              </a:lnSpc>
              <a:defRPr/>
            </a:pPr>
            <a:r>
              <a:rPr lang="ko-KR" sz="4000" b="0" i="0" u="none" strike="noStrike">
                <a:solidFill>
                  <a:srgbClr val="323232"/>
                </a:solidFill>
                <a:latin typeface="돋움"/>
                <a:ea typeface="돋움"/>
              </a:rPr>
              <a:t>개발</a:t>
            </a:r>
            <a:r>
              <a:rPr lang="en-US" sz="4000" b="0" i="0" u="none" strike="noStrike">
                <a:solidFill>
                  <a:srgbClr val="323232"/>
                </a:solidFill>
                <a:latin typeface="돋움"/>
                <a:ea typeface="돋움"/>
              </a:rPr>
              <a:t> </a:t>
            </a:r>
            <a:r>
              <a:rPr lang="ko-KR" altLang="en-US" sz="4000" b="0" i="0" u="none" strike="noStrike">
                <a:solidFill>
                  <a:srgbClr val="323232"/>
                </a:solidFill>
                <a:latin typeface="돋움"/>
                <a:ea typeface="돋움"/>
              </a:rPr>
              <a:t>환경</a:t>
            </a:r>
            <a:endParaRPr lang="ko-KR" altLang="en-US" sz="40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493500" y="7150100"/>
            <a:ext cx="33020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5449"/>
              </a:lnSpc>
              <a:defRPr/>
            </a:pPr>
            <a:r>
              <a:rPr lang="ko-KR" sz="4000" b="0" i="0" u="none" strike="noStrike">
                <a:solidFill>
                  <a:srgbClr val="323232"/>
                </a:solidFill>
                <a:latin typeface="돋움"/>
                <a:ea typeface="돋움"/>
              </a:rPr>
              <a:t>개발</a:t>
            </a:r>
            <a:r>
              <a:rPr lang="ko-KR" altLang="en-US" sz="4000" b="0" i="0" u="none" strike="noStrike">
                <a:solidFill>
                  <a:srgbClr val="323232"/>
                </a:solidFill>
                <a:latin typeface="돋움"/>
                <a:ea typeface="돋움"/>
              </a:rPr>
              <a:t> 언어</a:t>
            </a:r>
            <a:endParaRPr lang="ko-KR" altLang="en-US" sz="40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-2614898" y="2649251"/>
            <a:ext cx="10258998" cy="5029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06400" y="342900"/>
            <a:ext cx="1056640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파일구조</a:t>
            </a:r>
            <a:r>
              <a:rPr lang="en-US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(</a:t>
            </a: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텍스트</a:t>
            </a:r>
            <a:r>
              <a:rPr lang="en-US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 </a:t>
            </a: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파일</a:t>
            </a:r>
            <a:r>
              <a:rPr lang="en-US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)</a:t>
            </a:r>
            <a:r>
              <a:rPr lang="ko-KR" altLang="en-US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변경</a:t>
            </a:r>
            <a:endParaRPr lang="ko-KR" altLang="en-US" sz="65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666999" y="1746249"/>
          <a:ext cx="11048999" cy="7893051"/>
        </p:xfrm>
        <a:graphic>
          <a:graphicData uri="http://schemas.openxmlformats.org/drawingml/2006/table">
            <a:tbl>
              <a:tblPr firstRow="1" bandRow="1"/>
              <a:tblGrid>
                <a:gridCol w="3352800"/>
                <a:gridCol w="2392587"/>
                <a:gridCol w="1826363"/>
                <a:gridCol w="1754787"/>
                <a:gridCol w="1722462"/>
              </a:tblGrid>
              <a:tr h="577851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123669"/>
                        </a:lnSpc>
                        <a:defRPr/>
                      </a:pPr>
                      <a:r>
                        <a:rPr lang="ko-KR" sz="2500" b="0" i="0" u="none" strike="noStrike">
                          <a:solidFill>
                            <a:srgbClr val="1f1f1f"/>
                          </a:solidFill>
                          <a:ea typeface="Noto Sans CJK KR Medium"/>
                        </a:rPr>
                        <a:t>과목명</a:t>
                      </a:r>
                      <a:endParaRPr lang="en-US" sz="25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123669"/>
                        </a:lnSpc>
                        <a:defRPr/>
                      </a:pPr>
                      <a:r>
                        <a:rPr lang="ko-KR" sz="2500" b="0" i="0" u="none" strike="noStrike">
                          <a:solidFill>
                            <a:srgbClr val="1f1f1f"/>
                          </a:solidFill>
                          <a:ea typeface="Noto Sans CJK KR Medium"/>
                        </a:rPr>
                        <a:t>년도</a:t>
                      </a:r>
                      <a:r>
                        <a:rPr lang="en-US" sz="2500" b="0" i="0" u="none" strike="noStrike">
                          <a:solidFill>
                            <a:srgbClr val="1f1f1f"/>
                          </a:solidFill>
                          <a:latin typeface="Noto Sans CJK KR Medium"/>
                        </a:rPr>
                        <a:t>/</a:t>
                      </a:r>
                      <a:r>
                        <a:rPr lang="ko-KR" altLang="en-US" sz="2500" b="0" i="0" u="none" strike="noStrike">
                          <a:solidFill>
                            <a:srgbClr val="1f1f1f"/>
                          </a:solidFill>
                          <a:ea typeface="Noto Sans CJK KR Medium"/>
                        </a:rPr>
                        <a:t>학</a:t>
                      </a:r>
                      <a:r>
                        <a:rPr lang="ko-KR" sz="2500" b="0" i="0" u="none" strike="noStrike">
                          <a:solidFill>
                            <a:srgbClr val="1f1f1f"/>
                          </a:solidFill>
                          <a:ea typeface="Noto Sans CJK KR Medium"/>
                        </a:rPr>
                        <a:t>기</a:t>
                      </a:r>
                      <a:endParaRPr lang="ko-KR" sz="2500" b="0" i="0" u="none" strike="noStrike">
                        <a:solidFill>
                          <a:srgbClr val="1f1f1f"/>
                        </a:solidFill>
                        <a:ea typeface="Noto Sans CJK KR Medium"/>
                      </a:endParaRPr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123669"/>
                        </a:lnSpc>
                        <a:defRPr/>
                      </a:pPr>
                      <a:r>
                        <a:rPr lang="ko-KR" sz="2500" b="0" i="0" u="none" strike="noStrike">
                          <a:solidFill>
                            <a:srgbClr val="1f1f1f"/>
                          </a:solidFill>
                          <a:ea typeface="Noto Sans CJK KR Medium"/>
                        </a:rPr>
                        <a:t>이수구분</a:t>
                      </a:r>
                      <a:endParaRPr lang="en-US" sz="25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123669"/>
                        </a:lnSpc>
                        <a:defRPr/>
                      </a:pPr>
                      <a:r>
                        <a:rPr lang="ko-KR" sz="2500" b="0" i="0" u="none" strike="noStrike">
                          <a:solidFill>
                            <a:srgbClr val="1f1f1f"/>
                          </a:solidFill>
                          <a:ea typeface="Noto Sans CJK KR Medium"/>
                        </a:rPr>
                        <a:t>등급</a:t>
                      </a:r>
                      <a:endParaRPr lang="en-US" sz="25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123669"/>
                        </a:lnSpc>
                        <a:defRPr/>
                      </a:pPr>
                      <a:r>
                        <a:rPr lang="ko-KR" sz="2500" b="0" i="0" u="none" strike="noStrike">
                          <a:solidFill>
                            <a:srgbClr val="1f1f1f"/>
                          </a:solidFill>
                          <a:ea typeface="Noto Sans CJK KR Medium"/>
                        </a:rPr>
                        <a:t>학점</a:t>
                      </a:r>
                      <a:endParaRPr lang="en-US" sz="25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7f7f7"/>
                    </a:solidFill>
                  </a:tcPr>
                </a:tc>
              </a:tr>
              <a:tr h="5334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사회봉사</a:t>
                      </a:r>
                      <a:r>
                        <a:rPr lang="en-US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Ｉ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2023/1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교양필수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0">
                      <a:noFill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P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0</a:t>
                      </a:r>
                      <a:endParaRPr xmlns:mc="http://schemas.openxmlformats.org/markup-compatibility/2006" xmlns:hp="http://schemas.haansoft.com/office/presentation/8.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0">
                      <a:noFill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사고와표현</a:t>
                      </a:r>
                      <a:r>
                        <a:rPr lang="en-US" sz="2300" b="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Ⅰ－</a:t>
                      </a: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글쓰기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2023/1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교양필수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B+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3.5</a:t>
                      </a:r>
                      <a:endParaRPr xmlns:mc="http://schemas.openxmlformats.org/markup-compatibility/2006" xmlns:hp="http://schemas.haansoft.com/office/presentation/8.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드림프로젝트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2023/1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교양필수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A+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4.5</a:t>
                      </a:r>
                      <a:endParaRPr xmlns:mc="http://schemas.openxmlformats.org/markup-compatibility/2006" xmlns:hp="http://schemas.haansoft.com/office/presentation/8.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일본의생활문화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2023/1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교양선택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C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2</a:t>
                      </a:r>
                      <a:endParaRPr xmlns:mc="http://schemas.openxmlformats.org/markup-compatibility/2006" xmlns:hp="http://schemas.haansoft.com/office/presentation/8.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ＳＵ</a:t>
                      </a: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진로코칭</a:t>
                      </a:r>
                      <a:r>
                        <a:rPr lang="en-US" sz="2300" b="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2023/1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교양필수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P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0</a:t>
                      </a:r>
                      <a:endParaRPr xmlns:mc="http://schemas.openxmlformats.org/markup-compatibility/2006" xmlns:hp="http://schemas.haansoft.com/office/presentation/8.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데이터기반사고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2023/1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교양필수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B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3</a:t>
                      </a:r>
                      <a:endParaRPr xmlns:mc="http://schemas.openxmlformats.org/markup-compatibility/2006" xmlns:hp="http://schemas.haansoft.com/office/presentation/8.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미국문화의이해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2023/1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교양선택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A+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4.5</a:t>
                      </a:r>
                      <a:endParaRPr xmlns:mc="http://schemas.openxmlformats.org/markup-compatibility/2006" xmlns:hp="http://schemas.haansoft.com/office/presentation/8.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프로그래밍</a:t>
                      </a:r>
                      <a:r>
                        <a:rPr lang="en-US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Ｉ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2023/1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전공선택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B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3</a:t>
                      </a:r>
                      <a:endParaRPr xmlns:mc="http://schemas.openxmlformats.org/markup-compatibility/2006" xmlns:hp="http://schemas.haansoft.com/office/presentation/8.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컴퓨터개론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2023/1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전공선택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B+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3.5</a:t>
                      </a:r>
                      <a:endParaRPr xmlns:mc="http://schemas.openxmlformats.org/markup-compatibility/2006" xmlns:hp="http://schemas.haansoft.com/office/presentation/8.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사고와표현</a:t>
                      </a:r>
                      <a:r>
                        <a:rPr lang="en-US" sz="2300" b="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Ⅱ－</a:t>
                      </a: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말하기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2023/2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교양필수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0">
                      <a:noFill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A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4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영어회화</a:t>
                      </a:r>
                      <a:r>
                        <a:rPr lang="en-US" sz="2300" b="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2023/2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교양필수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B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3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735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일본어</a:t>
                      </a:r>
                      <a:r>
                        <a:rPr lang="en-US" sz="2300" b="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Ⅱ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2023/2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교양선택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C+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2.5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대학수학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2023/2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교양선택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B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3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ＳＵ</a:t>
                      </a: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인성코칭</a:t>
                      </a:r>
                      <a:r>
                        <a:rPr lang="en-US" sz="2300" b="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2023/2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교양필수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P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0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비판적사고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2023/2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교양필수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B+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3.5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프로그래밍</a:t>
                      </a:r>
                      <a:r>
                        <a:rPr lang="en-US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ＩＩ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2023/2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전공선택</a:t>
                      </a:r>
                      <a:endParaRPr xmlns:mc="http://schemas.openxmlformats.org/markup-compatibility/2006" xmlns:hp="http://schemas.haansoft.com/office/presentation/8.0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B+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3.5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디지털공학설계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2023/2</a:t>
                      </a:r>
                      <a:r>
                        <a:rPr lang="ko-KR" sz="2300" i="0" u="none" strike="noStrike">
                          <a:solidFill>
                            <a:srgbClr val="1f1f1f"/>
                          </a:solidFill>
                          <a:ea typeface="Noto Sans Korean Regular"/>
                        </a:rPr>
                        <a:t>학기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mc:Ignorable="hp" hp:hslEmbossed="0">
                          <a:solidFill>
                            <a:srgbClr val="2d3c51"/>
                          </a:solidFill>
                          <a:latin typeface="basefont"/>
                          <a:ea typeface="basefont"/>
                          <a:cs typeface="basefont"/>
                        </a:rPr>
                        <a:t>전공선택</a:t>
                      </a:r>
                      <a:endParaRPr xmlns:mc="http://schemas.openxmlformats.org/markup-compatibility/2006" xmlns:hp="http://schemas.haansoft.com/office/presentation/8.0" lang="ko-KR" altLang="en-US" b="0" i="0" u="none" strike="noStrike" mc:Ignorable="hp" hp:hslEmbossed="0">
                        <a:solidFill>
                          <a:srgbClr val="2d3c51"/>
                        </a:solidFill>
                        <a:latin typeface="basefont"/>
                        <a:ea typeface="basefont"/>
                        <a:cs typeface="basefont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ecf1f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B+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p>
                      <a:pPr lvl="0" algn="ctr">
                        <a:lnSpc>
                          <a:spcPct val="83830"/>
                        </a:lnSpc>
                        <a:defRPr/>
                      </a:pPr>
                      <a:r>
                        <a:rPr lang="en-US" sz="2300" i="0" u="none" strike="noStrike">
                          <a:solidFill>
                            <a:srgbClr val="1f1f1f"/>
                          </a:solidFill>
                          <a:latin typeface="Noto Sans Korean Regular"/>
                        </a:rPr>
                        <a:t>3.5</a:t>
                      </a:r>
                      <a:endParaRPr lang="en-US" sz="2300"/>
                    </a:p>
                  </a:txBody>
                  <a:tcPr marL="19050" marR="19050" marT="19050" marB="19050" anchor="ctr">
                    <a:lnL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938" cap="flat" cmpd="sng" algn="ctr">
                      <a:solidFill>
                        <a:srgbClr val="dbdbdb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-2614898" y="2649251"/>
            <a:ext cx="10258998" cy="5029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33400" y="342900"/>
            <a:ext cx="79629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5449"/>
              </a:lnSpc>
              <a:defRPr/>
            </a:pPr>
            <a:r>
              <a:rPr lang="en-US" alt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UI</a:t>
            </a:r>
            <a:r>
              <a:rPr lang="ko-KR" altLang="en-US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 구현 영상</a:t>
            </a:r>
            <a:endParaRPr lang="ko-KR" sz="65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5" name="Group 5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9" name="Group 9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2" name="Group 12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5" name="Group 15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8" name="Group 18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sp>
        <p:nvSpPr>
          <p:cNvPr id="30" name="TextBox 29"/>
          <p:cNvSpPr txBox="1"/>
          <p:nvPr/>
        </p:nvSpPr>
        <p:spPr>
          <a:xfrm>
            <a:off x="1066800" y="1485900"/>
            <a:ext cx="4419600" cy="5207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ctr" defTabSz="914400" rtl="0" eaLnBrk="1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돋움"/>
                <a:ea typeface="돋움"/>
              </a:rPr>
              <a:t>-&gt;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돋움"/>
                <a:ea typeface="돋움"/>
              </a:rPr>
              <a:t>성적 추가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돋움"/>
                <a:ea typeface="돋움"/>
              </a:rPr>
              <a:t> 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rgbClr val="000000"/>
              </a:solidFill>
              <a:latin typeface="돋움"/>
              <a:ea typeface="돋움"/>
            </a:endParaRPr>
          </a:p>
        </p:txBody>
      </p:sp>
      <p:sp>
        <p:nvSpPr>
          <p:cNvPr id="31" name="TextBox 29"/>
          <p:cNvSpPr txBox="1"/>
          <p:nvPr/>
        </p:nvSpPr>
        <p:spPr>
          <a:xfrm>
            <a:off x="12573000" y="1422400"/>
            <a:ext cx="3581400" cy="5207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ctr" defTabSz="914400" rtl="0" eaLnBrk="1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돋움"/>
                <a:ea typeface="돋움"/>
              </a:rPr>
              <a:t>-&gt;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돋움"/>
                <a:ea typeface="돋움"/>
              </a:rPr>
              <a:t>성적 수정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000000"/>
                </a:solidFill>
                <a:ea typeface="Noto Sans CJK KR Regular"/>
              </a:rPr>
              <a:t> 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rgbClr val="000000"/>
              </a:solidFill>
              <a:ea typeface="Noto Sans CJK KR Regular"/>
            </a:endParaRPr>
          </a:p>
        </p:txBody>
      </p:sp>
      <p:pic>
        <p:nvPicPr>
          <p:cNvPr id="33" name="그림 32">
            <a:hlinkClick r:id="" action="ppaction://media"/>
          </p:cNvPr>
          <p:cNvPicPr>
            <a:picLocks noRot="1"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 rotWithShape="1">
          <a:blip r:embed="rId6"/>
          <a:stretch>
            <a:fillRect/>
          </a:stretch>
        </p:blipFill>
        <p:spPr>
          <a:xfrm>
            <a:off x="457200" y="2095500"/>
            <a:ext cx="7543800" cy="7086600"/>
          </a:xfrm>
          <a:prstGeom prst="rect">
            <a:avLst/>
          </a:prstGeom>
        </p:spPr>
      </p:pic>
      <p:pic>
        <p:nvPicPr>
          <p:cNvPr id="35" name="그림 34">
            <a:hlinkClick r:id="" action="ppaction://media"/>
          </p:cNvPr>
          <p:cNvPicPr>
            <a:picLocks noRot="1"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link="rId8"/>
              </p:ext>
            </p:extLst>
          </p:nvPr>
        </p:nvPicPr>
        <p:blipFill rotWithShape="1">
          <a:blip r:embed="rId9"/>
          <a:stretch>
            <a:fillRect/>
          </a:stretch>
        </p:blipFill>
        <p:spPr>
          <a:xfrm>
            <a:off x="9144000" y="2171700"/>
            <a:ext cx="8543924" cy="624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31867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7378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3"/>
                </p:tgtEl>
              </p:cMediaNode>
            </p:video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</p:childTnLst>
        </p:cTn>
      </p:par>
    </p:tnLst>
  </p:timing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-2614898" y="2649251"/>
            <a:ext cx="10258998" cy="5029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33400" y="342900"/>
            <a:ext cx="79629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5449"/>
              </a:lnSpc>
              <a:defRPr/>
            </a:pPr>
            <a:r>
              <a:rPr lang="en-US" alt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UI</a:t>
            </a:r>
            <a:r>
              <a:rPr lang="ko-KR" altLang="en-US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 구현 영상</a:t>
            </a:r>
            <a:endParaRPr lang="ko-KR" sz="65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5" name="Group 5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9" name="Group 9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2" name="Group 12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5" name="Group 15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8" name="Group 18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sp>
        <p:nvSpPr>
          <p:cNvPr id="30" name="TextBox 29"/>
          <p:cNvSpPr txBox="1"/>
          <p:nvPr/>
        </p:nvSpPr>
        <p:spPr>
          <a:xfrm>
            <a:off x="609600" y="1485900"/>
            <a:ext cx="4800600" cy="5207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ctr" defTabSz="914400" rtl="0" eaLnBrk="1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돋움"/>
                <a:ea typeface="돋움"/>
              </a:rPr>
              <a:t>-&gt;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돋움"/>
                <a:ea typeface="돋움"/>
              </a:rPr>
              <a:t>성적 삭제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000000"/>
                </a:solidFill>
                <a:ea typeface="Noto Sans CJK KR Regular"/>
              </a:rPr>
              <a:t> 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rgbClr val="000000"/>
              </a:solidFill>
              <a:ea typeface="Noto Sans CJK KR Regular"/>
            </a:endParaRPr>
          </a:p>
        </p:txBody>
      </p:sp>
      <p:sp>
        <p:nvSpPr>
          <p:cNvPr id="31" name="TextBox 29"/>
          <p:cNvSpPr txBox="1"/>
          <p:nvPr/>
        </p:nvSpPr>
        <p:spPr>
          <a:xfrm>
            <a:off x="11353800" y="1574800"/>
            <a:ext cx="4648200" cy="5207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ctr" defTabSz="914400" rtl="0" eaLnBrk="1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돋움"/>
                <a:ea typeface="돋움"/>
              </a:rPr>
              <a:t>-&gt;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돋움"/>
                <a:ea typeface="돋움"/>
              </a:rPr>
              <a:t>성적 검색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돋움"/>
                <a:ea typeface="돋움"/>
              </a:rPr>
              <a:t> 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rgbClr val="000000"/>
              </a:solidFill>
              <a:latin typeface="돋움"/>
              <a:ea typeface="돋움"/>
            </a:endParaRPr>
          </a:p>
        </p:txBody>
      </p:sp>
      <p:pic>
        <p:nvPicPr>
          <p:cNvPr id="32" name="그림 31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419100" y="2476500"/>
            <a:ext cx="7200900" cy="5791199"/>
          </a:xfrm>
          <a:prstGeom prst="rect">
            <a:avLst/>
          </a:prstGeom>
        </p:spPr>
      </p:pic>
      <p:pic>
        <p:nvPicPr>
          <p:cNvPr id="33" name="그림 32">
            <a:hlinkClick r:id="" action="ppaction://media"/>
          </p:cNvPr>
          <p:cNvPicPr>
            <a:picLocks noRot="1"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 rotWithShape="1">
          <a:blip r:embed="rId8"/>
          <a:stretch>
            <a:fillRect/>
          </a:stretch>
        </p:blipFill>
        <p:spPr>
          <a:xfrm>
            <a:off x="9829800" y="2324099"/>
            <a:ext cx="8172449" cy="6096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/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6067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/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7567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33"/>
                </p:tgtEl>
              </p:cMediaNode>
            </p:video>
          </p:childTnLst>
        </p:cTn>
      </p:par>
    </p:tn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-2571750" y="2571750"/>
            <a:ext cx="10287000" cy="5143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-76200" y="4533900"/>
            <a:ext cx="79629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5449"/>
              </a:lnSpc>
              <a:defRPr/>
            </a:pPr>
            <a:r>
              <a:rPr lang="ko-KR" sz="6500" b="0" i="0" u="none" strike="noStrike">
                <a:solidFill>
                  <a:srgbClr val="323232"/>
                </a:solidFill>
                <a:latin typeface="돋움"/>
                <a:ea typeface="돋움"/>
              </a:rPr>
              <a:t>감사합니다</a:t>
            </a:r>
            <a:endParaRPr lang="ko-KR" sz="6500" b="0" i="0" u="none" strike="noStrike">
              <a:solidFill>
                <a:srgbClr val="323232"/>
              </a:solidFill>
              <a:latin typeface="돋움"/>
              <a:ea typeface="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242</ep:Words>
  <ep:PresentationFormat>On-screen Show (4:3)</ep:PresentationFormat>
  <ep:Paragraphs>32</ep:Paragraphs>
  <ep:Slides>9</ep:Slides>
  <ep:Notes>1</ep:Notes>
  <ep:TotalTime>0</ep:TotalTime>
  <ep:HiddenSlides>0</ep:HiddenSlides>
  <ep:MMClips>4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kimay</cp:lastModifiedBy>
  <dcterms:modified xsi:type="dcterms:W3CDTF">2024-07-17T08:45:03.094</dcterms:modified>
  <cp:revision>68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